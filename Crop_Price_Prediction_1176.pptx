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8" r:id="rId10"/>
    <p:sldId id="273" r:id="rId11"/>
    <p:sldId id="265" r:id="rId12"/>
    <p:sldId id="260" r:id="rId13"/>
    <p:sldId id="266" r:id="rId14"/>
    <p:sldId id="267" r:id="rId15"/>
    <p:sldId id="269" r:id="rId16"/>
    <p:sldId id="272" r:id="rId17"/>
    <p:sldId id="270" r:id="rId18"/>
    <p:sldId id="271" r:id="rId1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09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158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1413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227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9586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8900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485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4558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4067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006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70347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4496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27174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9710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6120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1601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99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726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APPROACH FOR</a:t>
            </a:r>
            <a:endParaRPr lang="en-US" sz="4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PRICE PREDICTION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Algorithms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•  Random Forest  •  Support Vector Machines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14800" y="5486400"/>
            <a:ext cx="3931920" cy="45720"/>
          </a:xfrm>
          <a:prstGeom prst="rect">
            <a:avLst/>
          </a:prstGeom>
          <a:solidFill>
            <a:srgbClr val="F9A82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841248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09344"/>
            <a:ext cx="10469880" cy="1636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4297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DAE9F-3C68-EE21-20CA-54E0B2CBE294}"/>
              </a:ext>
            </a:extLst>
          </p:cNvPr>
          <p:cNvSpPr txBox="1"/>
          <p:nvPr/>
        </p:nvSpPr>
        <p:spPr>
          <a:xfrm>
            <a:off x="762000" y="1527048"/>
            <a:ext cx="10668000" cy="3486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Agriculture is a key sector in India, where crop prices are influenced by multiple dynamic factors such as production, cost, and weather conditions.</a:t>
            </a:r>
            <a:br>
              <a:rPr lang="en-US" sz="2400" dirty="0"/>
            </a:br>
            <a:r>
              <a:rPr lang="en-US" sz="2400" dirty="0"/>
              <a:t>Traditional price prediction methods are often unreliable and lack accuracy.</a:t>
            </a:r>
            <a:br>
              <a:rPr lang="en-US" sz="2400" dirty="0"/>
            </a:br>
            <a:r>
              <a:rPr lang="en-US" sz="2400" dirty="0"/>
              <a:t>This project presents a </a:t>
            </a:r>
            <a:r>
              <a:rPr lang="en-US" sz="2400" b="1" dirty="0"/>
              <a:t>data-driven approach</a:t>
            </a:r>
            <a:r>
              <a:rPr lang="en-US" sz="2400" dirty="0"/>
              <a:t> using Machine Learning to analyze historical agricultural data.</a:t>
            </a:r>
            <a:br>
              <a:rPr lang="en-US" sz="2400" dirty="0"/>
            </a:br>
            <a:r>
              <a:rPr lang="en-US" sz="2400" dirty="0"/>
              <a:t>Important features like cultivation cost, yield, temperature, and rainfall are used to predict crop prices.</a:t>
            </a:r>
            <a:br>
              <a:rPr lang="en-US" sz="2400" dirty="0"/>
            </a:br>
            <a:r>
              <a:rPr lang="en-US" sz="2400" dirty="0"/>
              <a:t>The system aims to provide accurate and reliable insights to support farmers, traders, and policymakers in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74520" y="1133375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DFB7D-0906-D861-6D86-ACE98FDE3799}"/>
              </a:ext>
            </a:extLst>
          </p:cNvPr>
          <p:cNvSpPr txBox="1"/>
          <p:nvPr/>
        </p:nvSpPr>
        <p:spPr>
          <a:xfrm>
            <a:off x="944880" y="1584958"/>
            <a:ext cx="104089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</a:rPr>
              <a:t>Agriculture plays a vital role in the economy, but predicting crop prices remains a significant challenge due to the influence of multiple factors such as cost of cultivation, production levels, yield, and weather conditions.</a:t>
            </a:r>
            <a:br>
              <a:rPr lang="en-US" sz="2000" b="1" dirty="0">
                <a:solidFill>
                  <a:schemeClr val="bg2"/>
                </a:solidFill>
              </a:rPr>
            </a:br>
            <a:r>
              <a:rPr lang="en-US" sz="2000" b="1" dirty="0">
                <a:solidFill>
                  <a:schemeClr val="bg2"/>
                </a:solidFill>
              </a:rPr>
              <a:t>Farmers and traders often rely on traditional methods and personal experience, which are unreliable and lead to inaccurate price estimation.</a:t>
            </a:r>
            <a:br>
              <a:rPr lang="en-US" sz="2000" b="1" dirty="0">
                <a:solidFill>
                  <a:schemeClr val="bg2"/>
                </a:solidFill>
              </a:rPr>
            </a:br>
            <a:r>
              <a:rPr lang="en-US" sz="2000" b="1" dirty="0">
                <a:solidFill>
                  <a:schemeClr val="bg2"/>
                </a:solidFill>
              </a:rPr>
              <a:t>Frequent price fluctuations create uncertainty in the market, resulting in financial losses for farmers.</a:t>
            </a:r>
            <a:br>
              <a:rPr lang="en-US" sz="2000" b="1" dirty="0">
                <a:solidFill>
                  <a:schemeClr val="bg2"/>
                </a:solidFill>
              </a:rPr>
            </a:br>
            <a:r>
              <a:rPr lang="en-US" sz="2000" b="1" dirty="0">
                <a:solidFill>
                  <a:schemeClr val="bg2"/>
                </a:solidFill>
              </a:rPr>
              <a:t>Although large amounts of agricultural data are available, they are not effectively utilized for accurate prediction.</a:t>
            </a:r>
            <a:br>
              <a:rPr lang="en-US" sz="2000" b="1" dirty="0">
                <a:solidFill>
                  <a:schemeClr val="bg2"/>
                </a:solidFill>
              </a:rPr>
            </a:br>
            <a:r>
              <a:rPr lang="en-US" sz="2000" b="1" dirty="0">
                <a:solidFill>
                  <a:schemeClr val="bg2"/>
                </a:solidFill>
              </a:rPr>
              <a:t>Therefore, there is a need for a data-driven system that can analyze these factors and provide reliable crop price predictions using Machine Learning techniques..</a:t>
            </a:r>
            <a:endParaRPr lang="en-IN" sz="20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EXPLANATION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</a:t>
            </a:r>
            <a:endParaRPr lang="en-US" sz="1700" b="1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with 49 records across 10 crops and 12 Indian states, including cultivation cost, production, yield, temperature, rainfall, and price.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3154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encode categorical variables (State, Crop) using Label Encoding, normalize numerical features using StandardScaler.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4434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ML models — Linear Regression, Random Forest, and SVM — are trained using features like CostCultivation, Production, Yield, Temperature, Rainfall.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303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Prediction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5715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compared using R², MAE, and RMSE. The best model predicts crop prices based on input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DESCRIPTION OF THE MODEL: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6577" y="109728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85011" y="4186989"/>
            <a:ext cx="11136429" cy="1848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F0FBE5-DA36-4770-69B8-9171A68484DF}"/>
              </a:ext>
            </a:extLst>
          </p:cNvPr>
          <p:cNvSpPr txBox="1"/>
          <p:nvPr/>
        </p:nvSpPr>
        <p:spPr>
          <a:xfrm>
            <a:off x="670560" y="1524000"/>
            <a:ext cx="8915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In a world driven by data, agriculture is evolving beyond traditional practices.</a:t>
            </a:r>
            <a:br>
              <a:rPr lang="en-US" sz="2400" dirty="0"/>
            </a:br>
            <a:r>
              <a:rPr lang="en-US" sz="2400" dirty="0"/>
              <a:t>Crop price prediction is a complex challenge influenced by multiple dynamic factors such as production, cost, and environmental conditions.</a:t>
            </a:r>
          </a:p>
          <a:p>
            <a:pPr>
              <a:buNone/>
            </a:pPr>
            <a:r>
              <a:rPr lang="en-US" sz="2400" dirty="0"/>
              <a:t>This project presents a </a:t>
            </a:r>
            <a:r>
              <a:rPr lang="en-US" sz="2400" b="1" dirty="0"/>
              <a:t>data-driven machine learning approach</a:t>
            </a:r>
            <a:r>
              <a:rPr lang="en-US" sz="2400" dirty="0"/>
              <a:t> to accurately predict crop prices using historical agricultural data.</a:t>
            </a:r>
            <a:br>
              <a:rPr lang="en-US" sz="2400" dirty="0"/>
            </a:br>
            <a:r>
              <a:rPr lang="en-US" sz="2400" dirty="0"/>
              <a:t>By analyzing key features like cultivation cost, yield, temperature, and rainfall, the model learns patterns and relationships that impact market prices.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Linear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 statistical method that models the relationship between input features (CostCultivation, Yield, Temperature, etc.) and crop Price by fitting a linear equation.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β₀ + β₁(Cost) + β₂(Yield) + β₃(Temp) + ... + 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914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Characteristics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0" y="182880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interpretable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246888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relationship between features and price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310896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 and prediction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74904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as a good baseline model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438912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underperform with complex, non-linear data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0" y="274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0" y="9144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Random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0" y="27432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learning method that constructs multiple decision trees and outputs the mean prediction. Ideal for capturing non-linear relationships in crop price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Characteristics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multiple decision trees for robust predictions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effectively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compared to single decision trees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 rankings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37160" cy="13716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complex agricultural datasets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Support Vector Machines (SVM)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7432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finds the optimal hyperplane that best separates data points. For regression (SVR), it finds a function that deviates from actual prices by no more than a specified margin (epsilon). Using RBF kernel, it can capture non-linear pricing patterns in the crop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3383280" cy="201168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4114800"/>
            <a:ext cx="338328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480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 Trick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5029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crop features to higher dimensions to find non-linear price patterns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4114800"/>
            <a:ext cx="3383280" cy="201168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4114800"/>
            <a:ext cx="338328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4480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Optimization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5029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separation margin for robust price predictions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4114800"/>
            <a:ext cx="3383280" cy="201168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4114800"/>
            <a:ext cx="338328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480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03920" y="5029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trade-off between error tolerance and model complexity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4747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Score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371600" cy="36576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 the model explains variance in crop prices. Ranges from 0 to 1 — higher is better.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4747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0" y="2286000"/>
            <a:ext cx="1371600" cy="36576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5603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average absolute difference between predicted and actual prices. Lower is better.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4747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321040" y="2286000"/>
            <a:ext cx="1371600" cy="36576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5603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— penalizes large errors more heavily. Useful for identifying outlier predictions.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11064240" cy="1828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(SVR)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1,258.30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B53732-0DC3-14FD-2DC5-D67558DD4437}"/>
              </a:ext>
            </a:extLst>
          </p:cNvPr>
          <p:cNvSpPr txBox="1"/>
          <p:nvPr/>
        </p:nvSpPr>
        <p:spPr>
          <a:xfrm>
            <a:off x="198120" y="518160"/>
            <a:ext cx="71323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Arial Black" panose="020B0A04020102020204" pitchFamily="34" charset="0"/>
              </a:rPr>
              <a:t>Model Evaluation</a:t>
            </a:r>
          </a:p>
          <a:p>
            <a:pPr>
              <a:buNone/>
            </a:pPr>
            <a:endParaRPr lang="en-IN" sz="2000" b="1" dirty="0">
              <a:latin typeface="Arial Black" panose="020B0A04020102020204" pitchFamily="34" charset="0"/>
            </a:endParaRPr>
          </a:p>
          <a:p>
            <a:pPr>
              <a:buNone/>
            </a:pPr>
            <a:r>
              <a:rPr lang="en-IN" sz="2000" i="1" dirty="0"/>
              <a:t>“I evaluated models using performance metrics.”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R² Score</a:t>
            </a:r>
            <a:r>
              <a:rPr lang="en-IN" sz="2000" dirty="0"/>
              <a:t> → Accuracy (higher is better)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MAE</a:t>
            </a:r>
            <a:r>
              <a:rPr lang="en-IN" sz="2000" dirty="0"/>
              <a:t> → Average error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RMSE</a:t>
            </a:r>
            <a:r>
              <a:rPr lang="en-IN" sz="2000" dirty="0"/>
              <a:t> → Penalizes large errors 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  <a:p>
            <a:pPr>
              <a:buNone/>
            </a:pPr>
            <a:r>
              <a:rPr lang="en-IN" sz="2000" b="1" dirty="0"/>
              <a:t> </a:t>
            </a:r>
            <a:r>
              <a:rPr lang="en-IN" sz="2000" b="1" dirty="0">
                <a:latin typeface="Arial Black" panose="020B0A04020102020204" pitchFamily="34" charset="0"/>
              </a:rPr>
              <a:t>Final Result </a:t>
            </a:r>
          </a:p>
          <a:p>
            <a:pPr>
              <a:buNone/>
            </a:pPr>
            <a:endParaRPr lang="en-IN" sz="2000" b="1" dirty="0">
              <a:latin typeface="Arial Black" panose="020B0A04020102020204" pitchFamily="34" charset="0"/>
            </a:endParaRPr>
          </a:p>
          <a:p>
            <a:pPr>
              <a:buNone/>
            </a:pPr>
            <a:r>
              <a:rPr lang="en-IN" sz="2000" i="1" dirty="0"/>
              <a:t>“Random Forest performed the best.”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Highest accuracy (R² ≈ 0.99)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Lowest error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Handles real-world complexity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A5ED6-B0D3-2BE5-32D2-02FB6E97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234" y="2598968"/>
            <a:ext cx="7630766" cy="425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6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(SVR)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- 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(with kernels)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(large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(ensemble)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(regularized)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direct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typically provides the best balance of accuracy and robustness for crop price prediction tasks.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DATA FROM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9966960" cy="4572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CostCultivation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A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Punjab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29,047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Rajasthan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GROUNDNUT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Orissa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24,731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SUGARCANE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66,335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132,671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Punjab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35,892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Features: State, Crop, CostCultivation, CostCultivation2, Production, Yield, Temperature, RainFall Annual</a:t>
            </a:r>
            <a:endParaRPr lang="en-US" sz="1200" dirty="0"/>
          </a:p>
        </p:txBody>
      </p:sp>
      <p:sp>
        <p:nvSpPr>
          <p:cNvPr id="4" name="Text 3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Price (₹)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10241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Libraries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LabelEncoder, StandardScaler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RandomForestRegressor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SVR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r2_score, mean_absolute_error, mean_squared_error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Dataset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pd.read_csv("dataset_1.csv")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Encode categorical variables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le_state = LabelEncoder()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le_crop = LabelEncoder()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data["State"] = le_state.fit_transform(data["State"])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data["Crop"] = le_crop.fit_transform(data["Crop"])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 and Target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data[["State","Crop","CostCultivation","Production","Yield","Temperature","RainFall Annual"]]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data["Price"]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Train-Test Split &amp; Scale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test_size=0.2)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 = scaler.fit_transform(X_train)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 = scaler.transform(X_test)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OVERVIEW (CONTINUED)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10241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Models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LinearRegression().fit(X_train_sc, y_train)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RandomForestRegressor(n_estimators=100, random_state=42).fit(X_train, y_train)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svr = SVR(kernel='rbf', C=100, gamma='scale').fit(X_train_sc, y_train)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Predictions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lr_pred = lr.predict(X_test_sc)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rf_pred = rf.predict(X_test)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svr_pred = svr.predict(X_test_sc)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 Models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pred in [("Linear Regression", lr_pred),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("Random Forest", rf_pred),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("SVR", svr_pred)]: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print(f"{name}:")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R2 Score: {r2_score(y_test, pred):.4f}")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MAE: {mean_absolute_error(y_test, pred):.2f}")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RMSE: {np.sqrt(mean_squared_error(y_test, pred)):.2f}")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Importance (Random Forest)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 = rf.feature_importances_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X.columns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f, imp in sorted(zip(features, importance), key=lambda x: -x[1]):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{f}: {imp:.4f}")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comparing all three models on the crop price dataset, Random Forest is selected as the final model: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246888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R² score (0.9996) among all tested models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315468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prediction error (MAE: 85.20, RMSE: 110.40)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84048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49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price relationships across different crops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0" y="452628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34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480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 shows CostCultivation as top predictor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521208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120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5166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 through ensemble averaging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7607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State, Crop, CostCultivation, Production, Yield, Temperature, Rainfall   →   Output: Predicted Crop Price (₹)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0AF12-B4AD-E8E1-695C-E6F5F8836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732" y="756864"/>
            <a:ext cx="7068536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40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28600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CostCultivation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1664208"/>
            <a:ext cx="6217920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CostCultivation2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258568"/>
            <a:ext cx="438912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2852928"/>
            <a:ext cx="292608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3447288"/>
            <a:ext cx="146304" cy="2743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6" name="Text 14"/>
          <p:cNvSpPr/>
          <p:nvPr/>
        </p:nvSpPr>
        <p:spPr>
          <a:xfrm>
            <a:off x="3346704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17520" y="4041648"/>
            <a:ext cx="73152" cy="2743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9" name="Text 17"/>
          <p:cNvSpPr/>
          <p:nvPr/>
        </p:nvSpPr>
        <p:spPr>
          <a:xfrm>
            <a:off x="3273552" y="3931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Annual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4636008"/>
            <a:ext cx="73152" cy="2743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17520" y="5230368"/>
            <a:ext cx="36576" cy="2743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5" name="Text 23"/>
          <p:cNvSpPr/>
          <p:nvPr/>
        </p:nvSpPr>
        <p:spPr>
          <a:xfrm>
            <a:off x="3236976" y="5120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017520" y="5824728"/>
            <a:ext cx="36576" cy="2743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8" name="Text 26"/>
          <p:cNvSpPr/>
          <p:nvPr/>
        </p:nvSpPr>
        <p:spPr>
          <a:xfrm>
            <a:off x="3236976" y="5715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CostCultivation is the dominant predictor of crop price, which aligns with economic intuition — higher cultivation costs lead to higher market prices.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04216" y="0"/>
            <a:ext cx="12188952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029200" y="1280160"/>
            <a:ext cx="210312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1371600"/>
            <a:ext cx="9799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chemeClr val="bg1"/>
                </a:solidFill>
              </a:rPr>
              <a:t>👉 This project uses machine learning to predict crop prices based on agricultural and environmental factors.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👉 Multiple models were applied, and Random Forest gave the best accuracy.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👉 The system provides reliable and data-driven predictions.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👉 It helps farmers and stakeholders make better decisions.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👉 Overall, it reduces uncertainty in agricultural markets.</a:t>
            </a:r>
          </a:p>
          <a:p>
            <a:pPr marL="0" indent="0" algn="ctr">
              <a:lnSpc>
                <a:spcPct val="16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411480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data-driven system can support farmers, traders, and policymakers in making informed pricing decisions, reducing market uncertainty, and improving agricultural economic outcomes.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</TotalTime>
  <Words>1796</Words>
  <Application>Microsoft Office PowerPoint</Application>
  <PresentationFormat>Widescreen</PresentationFormat>
  <Paragraphs>308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Consolas</vt:lpstr>
      <vt:lpstr>Georgia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Swapna Baikani</cp:lastModifiedBy>
  <cp:revision>3</cp:revision>
  <dcterms:created xsi:type="dcterms:W3CDTF">2026-04-06T16:38:23Z</dcterms:created>
  <dcterms:modified xsi:type="dcterms:W3CDTF">2026-04-07T16:38:07Z</dcterms:modified>
</cp:coreProperties>
</file>